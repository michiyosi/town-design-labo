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notesMasterIdLst>
    <p:notesMasterId r:id="rId38"/>
  </p:notesMasterIdLst>
  <p:sldSz cx="9902952" cy="6858000"/>
  <p:notesSz cx="6858000" cy="9902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会社紹介は1分。部署名（可動産部／まちづくり部／AI実装部）は仮置き。実際の呼び方に直す。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自己紹介は1分。趣味とやってみたい事は、会場の空気をゆるめる用。深追いしない。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4つの取り組みを、写真で1枚ずつ。合計3分。「小さく試す」が後半の話（手間を減らして、まず1回やる）につながる。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「買う前に試す」＝小さく試す、の1つ目。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写真 ai.jpg は未配置。ここで「今日の話は、この一番小さい版」と言って後半の本題へ。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前半（福原さん）の「数字→原因→仮説→改善」を受けて、「改善」を実際に動かす話だと位置づける。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3つ聞く。最後の「AIを使ったことがある人」は少ない前提。少なくて大丈夫、と言う。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DXという言葉はここで一度だけ言い換える。以後は「手間を減らす」で通す。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通しのたとえ。以後「AI」は全部「アルバイトさん」で説明できる。アプリは Gemini 一本に固定（会場で迷わないため）。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配布の「うちの店シート」（紙）と同じ5項目。例：「浜田の駅前のお好み焼き屋」「近所の60代」「出汁がやさしいと言われる」。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机を回って、詰まっている人には「よく言われること」だけ聞いて代わりに書く。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会場のWi-Fiが不安なら、講師のスマホを投影して見せるだけにする。参加者は家でやってもよい。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「3案」がポイント。1案だと直すしかないが、3案なら選べる。選ぶのは店長の仕事。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実演の手順と、失敗したときの差し替えは実務マニュアル v3 を参照。事前に自分の店で1回やって、結果のスクショを保険に持っておく。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アルバイトさんの書いた POP を、店長が見ずに貼らない、と同じ。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Meta Business Suite は不要。ボタンの文言はアプリの更新で変わることがあるので、当日朝に自分のスマホで確認する。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合計60分。忙しい週にゼロにならないのが目的で、週1回のペースは目安。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Googleビジネスプロフィール、という言葉は使わない。「Googleマップのお店情報」で通す。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LINE 公式：2026-10-01 に有料プランの追加メッセージ料金が改定されるが、無料プラン（月200通）にはこの規模なら影響なし。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事例3件は本人記入（未記入）。チップの文字は12ptなので、1枠12文字以内。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配布のワークシート（⑤の日付）に書く。「いつ」が書けたら合格。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image" Target="../media/image-2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158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38912" y="1188720"/>
            <a:ext cx="45720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石央商工会主催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10896" y="1984248"/>
            <a:ext cx="9290304" cy="2532888"/>
          </a:xfrm>
          <a:prstGeom prst="roundRect">
            <a:avLst>
              <a:gd name="adj" fmla="val 5415"/>
            </a:avLst>
          </a:prstGeom>
          <a:ln w="34925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2103120"/>
            <a:ext cx="877824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DXマーケティングセミナー</a:t>
            </a:r>
            <a:endParaRPr lang="en-US" sz="2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～マーケティングを活かした集客・売上アップのためのスマホひとつでできる！SNS活用法～</a:t>
            </a:r>
            <a:endParaRPr lang="en-US" sz="24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【後半】改善策を実行する 身近なDX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3154680" y="4681728"/>
            <a:ext cx="3593592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2026 年 9 月 15 日 (火)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2286000" y="5120640"/>
            <a:ext cx="530352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TOWN DESIGN LABO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13232"/>
            <a:ext cx="3200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800" b="1" i="1" spc="800" kern="0" dirty="0">
                <a:solidFill>
                  <a:srgbClr val="D158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188720"/>
            <a:ext cx="27432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会社紹介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1481328"/>
            <a:ext cx="5486400" cy="0"/>
          </a:xfrm>
          <a:prstGeom prst="line">
            <a:avLst/>
          </a:prstGeom>
          <a:noFill/>
          <a:ln w="12700">
            <a:solidFill>
              <a:srgbClr val="D1588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691640"/>
            <a:ext cx="141732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会社名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103120" y="1691640"/>
            <a:ext cx="4114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株式会社TOWN DESIGN LABO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（タウンデザインラボ）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404872"/>
            <a:ext cx="141732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所在地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103120" y="2404872"/>
            <a:ext cx="4114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〒739-0402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広島県廿日市市対厳山2丁目16-53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118104"/>
            <a:ext cx="14173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設立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103120" y="3118104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2018年5月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3557016"/>
            <a:ext cx="141732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事業内容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103120" y="3557016"/>
            <a:ext cx="41148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可動産部：トレーラーハウス・キッチンカーの企画設計、キッチンカーのシェア・開業支援（KAZARI KITCHEN）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まちづくり部：空き家・空き地の利活用、地域の創業支援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AI実装部：AIに「自分の分身」をつくり、説明・下書き・調べものを任せる仕組みづくり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5367528"/>
            <a:ext cx="141732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代表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2103120" y="5367528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代表取締役　ヤスムラ ミチヨシ</a:t>
            </a:r>
            <a:endParaRPr lang="en-US" sz="1400" dirty="0"/>
          </a:p>
        </p:txBody>
      </p:sp>
      <p:pic>
        <p:nvPicPr>
          <p:cNvPr id="17" name="Image 0" descr="/home/user/town-design-labo/kazari-b-0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37960" y="868680"/>
            <a:ext cx="2743200" cy="1463040"/>
          </a:xfrm>
          <a:prstGeom prst="rect">
            <a:avLst/>
          </a:prstGeom>
        </p:spPr>
      </p:pic>
      <p:pic>
        <p:nvPicPr>
          <p:cNvPr id="18" name="Image 1" descr="/home/user/town-design-labo/CaGqL7fv3mc_01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37960" y="2468880"/>
            <a:ext cx="2743200" cy="1463040"/>
          </a:xfrm>
          <a:prstGeom prst="rect">
            <a:avLst/>
          </a:prstGeom>
        </p:spPr>
      </p:pic>
      <p:pic>
        <p:nvPicPr>
          <p:cNvPr id="19" name="Image 2" descr="/home/user/town-design-labo/life/img/317-febd7827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537960" y="4069080"/>
            <a:ext cx="2743200" cy="14630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713232"/>
            <a:ext cx="3200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800" b="1" i="1" spc="800" kern="0" dirty="0">
                <a:solidFill>
                  <a:srgbClr val="D158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188720"/>
            <a:ext cx="27432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講師紹介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1481328"/>
            <a:ext cx="5486400" cy="0"/>
          </a:xfrm>
          <a:prstGeom prst="line">
            <a:avLst/>
          </a:prstGeom>
          <a:noFill/>
          <a:ln w="12700">
            <a:solidFill>
              <a:srgbClr val="D1588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691640"/>
            <a:ext cx="141732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名前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103120" y="169164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ヤスムラ ミチヨシ（安村 通芳）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176272"/>
            <a:ext cx="141732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出身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103120" y="2176272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広島市（1984年生まれ）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2660904"/>
            <a:ext cx="141732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独立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103120" y="2660904"/>
            <a:ext cx="4114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2014年 広島へUターン、KAZARI を創業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2018年 TOWN DESIGN LABO を設立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3511296"/>
            <a:ext cx="1417320" cy="777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担当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103120" y="3511296"/>
            <a:ext cx="4114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キッチンカー・トレーラーハウスの設計と運用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キッチンカーによる創業支援、空き家の利活用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4361688"/>
            <a:ext cx="141732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趣味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2103120" y="4361688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COTENラジオで歴史の勉強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4846320"/>
            <a:ext cx="141732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やってみたい事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103120" y="484632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ブータンへ旅行</a:t>
            </a:r>
            <a:endParaRPr lang="en-US" sz="1400" dirty="0"/>
          </a:p>
        </p:txBody>
      </p:sp>
      <p:pic>
        <p:nvPicPr>
          <p:cNvPr id="19" name="Image 0" descr="/home/user/town-design-labo/director-s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55080" y="914400"/>
            <a:ext cx="2971800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4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097280"/>
            <a:ext cx="841248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Aft>
                <a:spcPts val="1400"/>
              </a:spcAft>
              <a:buNone/>
            </a:pPr>
            <a:r>
              <a:rPr lang="en-US" sz="3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TOWN DESIGN LABO が やっていること</a:t>
            </a:r>
            <a:endParaRPr lang="en-US" sz="3000" dirty="0"/>
          </a:p>
          <a:p>
            <a:pPr algn="ctr" indent="0" marL="0">
              <a:spcAft>
                <a:spcPts val="1400"/>
              </a:spcAft>
              <a:buNone/>
            </a:pPr>
            <a:endParaRPr lang="en-US" sz="30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3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キッチンカー　トレーラーハウス</a:t>
            </a:r>
            <a:endParaRPr lang="en-US" sz="30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3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空き家　AI（自分の分身）</a:t>
            </a:r>
            <a:endParaRPr lang="en-US" sz="3000" dirty="0"/>
          </a:p>
          <a:p>
            <a:pPr algn="ctr" indent="0" marL="0">
              <a:spcAft>
                <a:spcPts val="1400"/>
              </a:spcAft>
              <a:buNone/>
            </a:pPr>
            <a:endParaRPr lang="en-US" sz="30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3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共通しているのは</a:t>
            </a:r>
            <a:endParaRPr lang="en-US" sz="30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3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「大きく建てる前に、小さく試す」</a:t>
            </a:r>
            <a:endParaRPr lang="en-US" sz="3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取り組み①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85953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キッチンカー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</a:t>
            </a:r>
            <a:endParaRPr lang="en-US" sz="1000" dirty="0"/>
          </a:p>
        </p:txBody>
      </p:sp>
      <p:pic>
        <p:nvPicPr>
          <p:cNvPr id="6" name="Image 0" descr="/home/user/town-design-labo/kazari-b-0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331720"/>
            <a:ext cx="4206240" cy="31546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5513832"/>
            <a:ext cx="4206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KAZARI KITCHEN Type B（自社で設計・保有）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5029200" y="2331720"/>
            <a:ext cx="43434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買う前に、借りて試せるキッチンカー「KAZARI KITCHEN」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2020年から。飲食で開業したい人が、最短1日から出店できる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2022年、固定店舗と同じ範囲で営業できる車両を西日本で最初に導入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設計から製造の手配、貸し出しの運用まで自社で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取り組み②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85953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トレーラーハウス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6</a:t>
            </a:r>
            <a:endParaRPr lang="en-US" sz="1000" dirty="0"/>
          </a:p>
        </p:txBody>
      </p:sp>
      <p:pic>
        <p:nvPicPr>
          <p:cNvPr id="6" name="Image 0" descr="/home/user/town-design-labo/CaGqL7fv3mc_0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331720"/>
            <a:ext cx="4206240" cy="31546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5513832"/>
            <a:ext cx="4206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THE NOMAD 八ヶ岳（製造パートナー撮影）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5029200" y="2331720"/>
            <a:ext cx="43434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「動かせる建築」として、宿・店・事務所・別荘を設計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基礎を打たず、車両のまま置く。だから早く、あとから動かせる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法規（建築基準法・食品衛生法など）の確認から、製造の監修、引き渡し後まで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対応エリアは関西・中国・四国・九州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取り組み③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85953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空き家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7</a:t>
            </a:r>
            <a:endParaRPr lang="en-US" sz="1000" dirty="0"/>
          </a:p>
        </p:txBody>
      </p:sp>
      <p:pic>
        <p:nvPicPr>
          <p:cNvPr id="6" name="Image 0" descr="/home/user/town-design-labo/life/img/317-febd7827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331720"/>
            <a:ext cx="4206240" cy="31546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5513832"/>
            <a:ext cx="4206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空家の学校（廿日市市）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5029200" y="2331720"/>
            <a:ext cx="43434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2014年に広島へ戻ってから、空き家の利活用を続けてきた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空家の学校／空家SHOP／遊休施設でのグランピング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2018年、国土交通省のモデル事業に採択（廿日市市空き家0プロジェクト・事業管理者）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「誰も住まなくなった家。壊す前に、まだできることがある」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取り組み④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85953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AIに自分の分身をつくる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8</a:t>
            </a:r>
            <a:endParaRPr lang="en-US" sz="1000" dirty="0"/>
          </a:p>
        </p:txBody>
      </p:sp>
      <p:pic>
        <p:nvPicPr>
          <p:cNvPr id="6" name="Image 0" descr="/home/user/town-design-labo/seminar/sekio-dx-2026-09/deck/assets/photos/ai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2331720"/>
            <a:ext cx="4206240" cy="31546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0" y="2331720"/>
            <a:ext cx="43434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AIに「自分」と「会社」のことを覚えさせて、説明・下書き・調べものを任せる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13年分の投稿1,992件・写真8,633枚を整理して、自分の記録サイトをつくった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会社の資料や実務ガイドの下書きも、AIと一緒につくっている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今日お話しするのは、この「AIに覚えさせる」の いちばん小さい版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9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097280"/>
            <a:ext cx="841248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Aft>
                <a:spcPts val="1400"/>
              </a:spcAft>
              <a:buNone/>
            </a:pPr>
            <a:r>
              <a:rPr lang="en-US" sz="32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後半のテーマ</a:t>
            </a:r>
            <a:endParaRPr lang="en-US" sz="32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32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「なぜ、改善が続かないのか？」</a:t>
            </a:r>
            <a:endParaRPr lang="en-US" sz="3200" dirty="0"/>
          </a:p>
          <a:p>
            <a:pPr algn="ctr" indent="0" marL="0">
              <a:spcAft>
                <a:spcPts val="1400"/>
              </a:spcAft>
              <a:buNone/>
            </a:pPr>
            <a:endParaRPr lang="en-US" sz="32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32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前半で見つけた改善点を</a:t>
            </a:r>
            <a:endParaRPr lang="en-US" sz="32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32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明日からも続く形にする</a:t>
            </a:r>
            <a:endParaRPr lang="en-US" sz="3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ちょっと聞かせてください（手を挙げてください）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1645920"/>
            <a:ext cx="822960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投稿の文章を考えるのに、10分以上かかる人？</a:t>
            </a:r>
            <a:endParaRPr lang="en-US" sz="2800" dirty="0"/>
          </a:p>
          <a:p>
            <a:pPr algn="l" indent="0" marL="0">
              <a:spcAft>
                <a:spcPts val="1400"/>
              </a:spcAft>
              <a:buNone/>
            </a:pPr>
            <a:endParaRPr lang="en-US" sz="2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忙しくて、投稿が2週間以上空いたことがある人？</a:t>
            </a:r>
            <a:endParaRPr lang="en-US" sz="2800" dirty="0"/>
          </a:p>
          <a:p>
            <a:pPr algn="l" indent="0" marL="0">
              <a:spcAft>
                <a:spcPts val="1400"/>
              </a:spcAft>
              <a:buNone/>
            </a:pPr>
            <a:endParaRPr lang="en-US" sz="2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AI（人工知能）を使ったことがある人？</a:t>
            </a:r>
            <a:endParaRPr lang="en-US" sz="2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11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371600"/>
            <a:ext cx="841248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続かない理由は、やる気でも、道具でもない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841248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1回あたりの手間が</a:t>
            </a:r>
            <a:endParaRPr lang="en-US" sz="4400" dirty="0"/>
          </a:p>
          <a:p>
            <a:pPr algn="ctr" indent="0" marL="0">
              <a:buNone/>
            </a:pPr>
            <a:r>
              <a:rPr lang="en-US" sz="4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大きすぎる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663440"/>
            <a:ext cx="8412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文章を考える30分　写真を選ぶ10分　「今日はいいか」</a:t>
            </a:r>
            <a:endParaRPr lang="en-US" sz="18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これが毎回だと、忙しい週に止まる。止まると再開が重い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12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097280"/>
            <a:ext cx="841248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Aft>
                <a:spcPts val="1400"/>
              </a:spcAft>
              <a:buNone/>
            </a:pPr>
            <a:r>
              <a:rPr lang="en-US" sz="32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今日の後半は</a:t>
            </a:r>
            <a:endParaRPr lang="en-US" sz="32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32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新しい道具を増やす話は しません</a:t>
            </a:r>
            <a:endParaRPr lang="en-US" sz="3200" dirty="0"/>
          </a:p>
          <a:p>
            <a:pPr algn="ctr" indent="0" marL="0">
              <a:spcAft>
                <a:spcPts val="1400"/>
              </a:spcAft>
              <a:buNone/>
            </a:pPr>
            <a:endParaRPr lang="en-US" sz="32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32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「1回あたりの手間を減らす」</a:t>
            </a:r>
            <a:endParaRPr lang="en-US" sz="32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32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この話だけ</a:t>
            </a:r>
            <a:endParaRPr lang="en-US" sz="3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身近なDXとは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85953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毎回考えることを、減らす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22376" y="2926080"/>
            <a:ext cx="1737360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毎回ゼロから考える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 rot="5400000">
            <a:off x="2578608" y="3172968"/>
            <a:ext cx="256032" cy="219456"/>
          </a:xfrm>
          <a:prstGeom prst="triangle">
            <a:avLst/>
          </a:prstGeom>
          <a:solidFill>
            <a:srgbClr val="70AD47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62656" y="2926080"/>
            <a:ext cx="1737360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一度だけ書く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 rot="5400000">
            <a:off x="4818888" y="3172968"/>
            <a:ext cx="256032" cy="219456"/>
          </a:xfrm>
          <a:prstGeom prst="triangle">
            <a:avLst/>
          </a:prstGeom>
          <a:solidFill>
            <a:srgbClr val="70AD47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202936" y="2926080"/>
            <a:ext cx="1737360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毎回使い回す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 rot="5400000">
            <a:off x="7059168" y="3172968"/>
            <a:ext cx="256032" cy="219456"/>
          </a:xfrm>
          <a:prstGeom prst="triangle">
            <a:avLst/>
          </a:prstGeom>
          <a:solidFill>
            <a:srgbClr val="70AD47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43216" y="2926080"/>
            <a:ext cx="1737360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手間が減る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4206240"/>
            <a:ext cx="8412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DX（デジタル化）というと大げさに聞こえますが、やることは1つ。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「毎回その場で考えていたこと」を、一度書いて、使い回す。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今日はその「一度書くもの」を、紙1枚で作って帰ります。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使う道具は1つ：AI（Gemini）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85953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AIは、今日入ったアルバイトさん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331720"/>
            <a:ext cx="84124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頭はいい。文章も書ける。調べものもできる。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でも、うちの店のことは何も知らない。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だから最初に「お店の説明書」を1枚渡す。それだけ。</a:t>
            </a:r>
            <a:endParaRPr lang="en-US" sz="2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2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書いたものは、店長（あなた）が見てから出す。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「お店の説明書」があると、何が変わるか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554480"/>
            <a:ext cx="4114800" cy="411480"/>
          </a:xfrm>
          <a:prstGeom prst="rect">
            <a:avLst/>
          </a:prstGeom>
          <a:solidFill>
            <a:srgbClr val="5B9BD5"/>
          </a:solidFill>
          <a:ln>
            <a:solidFill>
              <a:srgbClr val="5B9BD5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説明書なし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「お好み焼き屋の投稿文を書いて」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 どこにでもある文章が出てくる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 店の名前も場所も入っていない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 直すのに時間がかかる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 次もまた、最初から説明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138928" y="1554480"/>
            <a:ext cx="4114800" cy="411480"/>
          </a:xfrm>
          <a:prstGeom prst="rect">
            <a:avLst/>
          </a:prstGeom>
          <a:solidFill>
            <a:srgbClr val="D15881"/>
          </a:solidFill>
          <a:ln>
            <a:solidFill>
              <a:srgbClr val="D15881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説明書あり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38928" y="210312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説明書を貼って「今週の投稿文を3案」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 店の名前・場所が入っている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 いつものお客さんに向いた言葉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 直すのは、値段と日付くらい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 説明は最初の1回だけ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お店の説明書 ＝「うちの店シート」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85953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書くのは、この5つだけ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331720"/>
            <a:ext cx="8449056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① 店の名前と場所</a:t>
            </a:r>
            <a:endParaRPr lang="en-US" sz="2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② 売っているもの（いちばん出るもの）</a:t>
            </a:r>
            <a:endParaRPr lang="en-US" sz="2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③ よく来るお客さん</a:t>
            </a:r>
            <a:endParaRPr lang="en-US" sz="2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④ よく言われること（ほめ言葉）</a:t>
            </a:r>
            <a:endParaRPr lang="en-US" sz="2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⑤ 文章の雰囲気（きちんと／ふつう／親しみやすく）</a:t>
            </a:r>
            <a:endParaRPr lang="en-US" sz="2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ワークタイム（5分）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097280"/>
            <a:ext cx="841248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Aft>
                <a:spcPts val="1400"/>
              </a:spcAft>
              <a:buNone/>
            </a:pPr>
            <a:r>
              <a:rPr lang="en-US" sz="32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配った「うちの店シート」に</a:t>
            </a:r>
            <a:endParaRPr lang="en-US" sz="32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32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5つを書いてみましょう</a:t>
            </a:r>
            <a:endParaRPr lang="en-US" sz="3200" dirty="0"/>
          </a:p>
          <a:p>
            <a:pPr algn="ctr" indent="0" marL="0">
              <a:spcAft>
                <a:spcPts val="1400"/>
              </a:spcAft>
              <a:buNone/>
            </a:pPr>
            <a:endParaRPr lang="en-US" sz="32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32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書けるところだけで OK</a:t>
            </a:r>
            <a:endParaRPr lang="en-US" sz="32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32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空欄があっても、ちゃんと動きます</a:t>
            </a:r>
            <a:endParaRPr lang="en-US" sz="3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やってみよう①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85953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Gemini（ジェミニ）を開く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18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331720"/>
            <a:ext cx="8449056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① スマホで「Gemini」アプリを入れる（無料）。または Google で「Gemini」と検索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② Google のアカウントで入る（Gmail があれば、そのまま）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③ 下の入力欄に、話しかけるように文章を打つ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④ 出てきた文章を、長押しでコピー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やってみよう②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85953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頼み方の型（これだけ覚える）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19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431036" y="2468880"/>
            <a:ext cx="2011680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シートを貼る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 rot="5400000">
            <a:off x="3561588" y="2715768"/>
            <a:ext cx="256032" cy="219456"/>
          </a:xfrm>
          <a:prstGeom prst="triangle">
            <a:avLst/>
          </a:prstGeom>
          <a:solidFill>
            <a:srgbClr val="70AD47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945636" y="2468880"/>
            <a:ext cx="2011680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頼みごとを書く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 rot="5400000">
            <a:off x="6076188" y="2715768"/>
            <a:ext cx="256032" cy="219456"/>
          </a:xfrm>
          <a:prstGeom prst="triangle">
            <a:avLst/>
          </a:prstGeom>
          <a:solidFill>
            <a:srgbClr val="70AD47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60236" y="2468880"/>
            <a:ext cx="2011680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3案 出てくる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" y="3429000"/>
            <a:ext cx="8412480" cy="2468880"/>
          </a:xfrm>
          <a:prstGeom prst="rect">
            <a:avLst/>
          </a:prstGeom>
          <a:solidFill>
            <a:srgbClr val="F6E8E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3520440"/>
            <a:ext cx="80467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【うちの店シートの内容を貼る】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このお店の Instagram の投稿文を、3案書いてください。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今週のお知らせ：◯◯（例：新メニュー／定休日の変更／季節の品）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長さは3行くらい。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実演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097280"/>
            <a:ext cx="841248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講師のスマホで、その場でやってみます</a:t>
            </a:r>
            <a:endParaRPr lang="en-US" sz="2800" dirty="0"/>
          </a:p>
          <a:p>
            <a:pPr algn="ctr" indent="0" marL="0">
              <a:spcAft>
                <a:spcPts val="1400"/>
              </a:spcAft>
              <a:buNone/>
            </a:pPr>
            <a:endParaRPr lang="en-US" sz="28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シートを貼る → 頼みごと → 3案</a:t>
            </a:r>
            <a:endParaRPr lang="en-US" sz="2800" dirty="0"/>
          </a:p>
          <a:p>
            <a:pPr algn="ctr" indent="0" marL="0">
              <a:spcAft>
                <a:spcPts val="1400"/>
              </a:spcAft>
              <a:buNone/>
            </a:pPr>
            <a:endParaRPr lang="en-US" sz="28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（つながらないときは、紙で説明します）</a:t>
            </a:r>
            <a:endParaRPr lang="en-US" sz="2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ここが いちばん大事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85953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そのまま投稿しない。直すのは3つ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842516" y="2606040"/>
            <a:ext cx="1737360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値段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 rot="5400000">
            <a:off x="3698748" y="2852928"/>
            <a:ext cx="256032" cy="219456"/>
          </a:xfrm>
          <a:prstGeom prst="triangle">
            <a:avLst/>
          </a:prstGeom>
          <a:solidFill>
            <a:srgbClr val="70AD47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082796" y="2606040"/>
            <a:ext cx="1737360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日付・時間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 rot="5400000">
            <a:off x="5939028" y="2852928"/>
            <a:ext cx="256032" cy="219456"/>
          </a:xfrm>
          <a:prstGeom prst="triangle">
            <a:avLst/>
          </a:prstGeom>
          <a:solidFill>
            <a:srgbClr val="70AD47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323076" y="2606040"/>
            <a:ext cx="1737360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言い回し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749040"/>
            <a:ext cx="84124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AI は、値段や日付を「それらしく」作ってしまうことがある。必ず自分の目で確認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言い回しは、自分の口ぐせに直す。それで「うちの店」の文章になる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直したら、店長の目で最終確認をして投稿。書いたのは AI、出すのはあなた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22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371600"/>
            <a:ext cx="841248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1回の投稿にかかる時間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8412480" cy="2103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30分 → 10分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663440"/>
            <a:ext cx="8412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AI が下書き（1分）＋ 直す（5分）＋ 写真を選ぶ（4分）</a:t>
            </a:r>
            <a:endParaRPr lang="en-US" sz="18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浮いた20分を、お客さんの相手に</a:t>
            </a:r>
            <a:endParaRPr lang="en-US" sz="1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23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097280"/>
            <a:ext cx="841248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Aft>
                <a:spcPts val="1400"/>
              </a:spcAft>
              <a:buNone/>
            </a:pPr>
            <a:r>
              <a:rPr lang="en-US" sz="32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忙しくても、止まらない仕組み</a:t>
            </a:r>
            <a:endParaRPr lang="en-US" sz="3200" dirty="0"/>
          </a:p>
          <a:p>
            <a:pPr algn="ctr" indent="0" marL="0">
              <a:spcAft>
                <a:spcPts val="1400"/>
              </a:spcAft>
              <a:buNone/>
            </a:pPr>
            <a:endParaRPr lang="en-US" sz="32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32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「毎回その場で投稿」を やめる</a:t>
            </a:r>
            <a:endParaRPr lang="en-US" sz="3200" dirty="0"/>
          </a:p>
          <a:p>
            <a:pPr algn="ctr" indent="0" marL="0">
              <a:spcAft>
                <a:spcPts val="1400"/>
              </a:spcAft>
              <a:buNone/>
            </a:pPr>
            <a:endParaRPr lang="en-US" sz="32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32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月に1回、まとめて作って、予約しておく</a:t>
            </a:r>
            <a:endParaRPr lang="en-US" sz="3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やってみよう③　公式アプリだけで OK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85953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Instagram で予約投稿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24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331720"/>
            <a:ext cx="8449056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① いつも通り、投稿を作る（写真 → 文章）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② 投稿する前の画面で「詳細設定」をタップ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③ 「日時を指定」をオンにして、投稿したい日と時間を選ぶ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④ 「日時指定」をタップして完了。あとは自動で投稿される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4864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※ ストーリーズは予約できません（フィード投稿・リールのみ）。別のアプリは要りません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ワークタイム（3分）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25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097280"/>
            <a:ext cx="841248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自分のスマホで</a:t>
            </a:r>
            <a:endParaRPr lang="en-US" sz="28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「詳細設定」→「日時を指定」を</a:t>
            </a:r>
            <a:endParaRPr lang="en-US" sz="28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探してみましょう</a:t>
            </a:r>
            <a:endParaRPr lang="en-US" sz="2800" dirty="0"/>
          </a:p>
          <a:p>
            <a:pPr algn="ctr" indent="0" marL="0">
              <a:spcAft>
                <a:spcPts val="1400"/>
              </a:spcAft>
              <a:buNone/>
            </a:pPr>
            <a:endParaRPr lang="en-US" sz="28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（見つけるだけで OK）</a:t>
            </a:r>
            <a:endParaRPr lang="en-US" sz="28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今日は投稿しなくて大丈夫</a:t>
            </a:r>
            <a:endParaRPr lang="en-US" sz="2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月に1回、1時間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85953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その1時間で やること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26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" y="2331720"/>
          <a:ext cx="8540496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1280160"/>
                <a:gridCol w="2139696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やること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BD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時間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BD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使うもの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BDD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今月のお知らせを書き出す（新メニュー・定休日・季節もの）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10分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ワークシート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うちの店シートを貼って、4週分の投稿文を AI に頼む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15分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Gemini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値段・日付・言い回しを直す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20分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自分の目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写真を選んで、4件を予約投稿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15分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Instagram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余裕が出てきたら①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85953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Googleマップのお店情報を直す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27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331720"/>
            <a:ext cx="84124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お客さんは、まず地図で探す。</a:t>
            </a: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写真がない店・営業時間が古い店は、選ばれにくい。</a:t>
            </a: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endParaRPr lang="en-US" sz="20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直すのは、写真3枚と営業時間だけ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156716" y="4754880"/>
            <a:ext cx="2194560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① 外観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 rot="5400000">
            <a:off x="3470148" y="5001768"/>
            <a:ext cx="256032" cy="219456"/>
          </a:xfrm>
          <a:prstGeom prst="triangle">
            <a:avLst/>
          </a:prstGeom>
          <a:solidFill>
            <a:srgbClr val="70AD47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854196" y="4754880"/>
            <a:ext cx="2194560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② いちばん売れているもの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 rot="5400000">
            <a:off x="6167628" y="5001768"/>
            <a:ext cx="256032" cy="219456"/>
          </a:xfrm>
          <a:prstGeom prst="triangle">
            <a:avLst/>
          </a:prstGeom>
          <a:solidFill>
            <a:srgbClr val="70AD47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51676" y="4754880"/>
            <a:ext cx="2194560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③ 店内（または自分）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余裕が出てきたら①　Googleマップ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85953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お店情報を直す手順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331720"/>
            <a:ext cx="8449056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① Google マップで、自分の店の名前を検索する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② 「このビジネスのオーナーですか？」または「ビジネス情報を管理」をタップ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③ 写真を3枚追加する（外観・売れ筋・店内）</a:t>
            </a:r>
            <a:endParaRPr lang="en-US" sz="2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④ 営業時間・定休日が、今と同じか確認する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4864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※ オーナー確認（ハガキや電話）が必要なことがあります。今日は「自分の店が出てくるか」だけ見ておく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余裕が出てきたら②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17320"/>
            <a:ext cx="859536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その次に手を出すなら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29</a:t>
            </a:r>
            <a:endParaRPr lang="en-US" sz="10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944" y="2331720"/>
          <a:ext cx="8540496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3419856"/>
              </a:tblGrid>
              <a:tr h="8229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道具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BD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向いている店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BD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気をつけること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BDD6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LINE 公式アカウント（無料）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常連さんが多い店。予約・お知らせを直接届けたい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無料は月200通まで。友だち100人なら月2回で上限。超えた分の追加購入はできない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Google マップの口コミ返信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口コミが付き始めた店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AI に下書きを頼んでもよい。ただし必ず自分の言葉に直す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Instagram のストーリーズ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毎日、店にいる人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予約はできない。当日の「今日の一品」向け</a:t>
                      </a:r>
                      <a:endParaRPr lang="en-US" sz="12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実際にやってみた店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30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271016" y="1554480"/>
            <a:ext cx="1600200" cy="393192"/>
          </a:xfrm>
          <a:prstGeom prst="rect">
            <a:avLst/>
          </a:prstGeom>
          <a:solidFill>
            <a:srgbClr val="D15881"/>
          </a:solidFill>
          <a:ln>
            <a:solidFill>
              <a:srgbClr val="D15881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前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739896" y="1554480"/>
            <a:ext cx="1600200" cy="393192"/>
          </a:xfrm>
          <a:prstGeom prst="rect">
            <a:avLst/>
          </a:prstGeom>
          <a:solidFill>
            <a:srgbClr val="5B9BD5"/>
          </a:solidFill>
          <a:ln>
            <a:solidFill>
              <a:srgbClr val="5B9BD5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やったこと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18504" y="1554480"/>
            <a:ext cx="1600200" cy="393192"/>
          </a:xfrm>
          <a:prstGeom prst="rect">
            <a:avLst/>
          </a:prstGeom>
          <a:solidFill>
            <a:srgbClr val="D15881"/>
          </a:solidFill>
          <a:ln>
            <a:solidFill>
              <a:srgbClr val="D15881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後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53312" y="2057400"/>
            <a:ext cx="1344168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（事例1）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 rot="5400000">
            <a:off x="3108960" y="2304288"/>
            <a:ext cx="256032" cy="219456"/>
          </a:xfrm>
          <a:prstGeom prst="triangle">
            <a:avLst/>
          </a:prstGeom>
          <a:solidFill>
            <a:srgbClr val="70AD47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822192" y="2057400"/>
            <a:ext cx="1344168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（やったこと）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 rot="5400000">
            <a:off x="5577840" y="2304288"/>
            <a:ext cx="256032" cy="219456"/>
          </a:xfrm>
          <a:prstGeom prst="triangle">
            <a:avLst/>
          </a:prstGeom>
          <a:solidFill>
            <a:srgbClr val="70AD47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0" y="2057400"/>
            <a:ext cx="1737360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（結果）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353312" y="3118104"/>
            <a:ext cx="1344168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（事例2）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 rot="5400000">
            <a:off x="3108960" y="3364992"/>
            <a:ext cx="256032" cy="219456"/>
          </a:xfrm>
          <a:prstGeom prst="triangle">
            <a:avLst/>
          </a:prstGeom>
          <a:solidFill>
            <a:srgbClr val="70AD47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822192" y="3118104"/>
            <a:ext cx="1344168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（やったこと）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 rot="5400000">
            <a:off x="5577840" y="3364992"/>
            <a:ext cx="256032" cy="219456"/>
          </a:xfrm>
          <a:prstGeom prst="triangle">
            <a:avLst/>
          </a:prstGeom>
          <a:solidFill>
            <a:srgbClr val="70AD47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400800" y="3118104"/>
            <a:ext cx="1737360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（結果）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353312" y="4178808"/>
            <a:ext cx="1344168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（事例3）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 rot="5400000">
            <a:off x="3108960" y="4425696"/>
            <a:ext cx="256032" cy="219456"/>
          </a:xfrm>
          <a:prstGeom prst="triangle">
            <a:avLst/>
          </a:prstGeom>
          <a:solidFill>
            <a:srgbClr val="70AD47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822192" y="4178808"/>
            <a:ext cx="1344168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（やったこと）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 rot="5400000">
            <a:off x="5577840" y="4425696"/>
            <a:ext cx="256032" cy="219456"/>
          </a:xfrm>
          <a:prstGeom prst="triangle">
            <a:avLst/>
          </a:prstGeom>
          <a:solidFill>
            <a:srgbClr val="70AD47"/>
          </a:solidFill>
          <a:ln w="12700">
            <a:solidFill>
              <a:srgbClr val="70AD4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00800" y="4178808"/>
            <a:ext cx="1737360" cy="713232"/>
          </a:xfrm>
          <a:prstGeom prst="roundRect">
            <a:avLst>
              <a:gd name="adj" fmla="val 15385"/>
            </a:avLst>
          </a:prstGeom>
          <a:solidFill>
            <a:srgbClr val="BDD7EE"/>
          </a:solidFill>
          <a:ln>
            <a:solidFill>
              <a:srgbClr val="BDD7EE"/>
            </a:solidFill>
          </a:ln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（結果）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5120640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数字は、自分で確認できるものだけ。「保存2倍」より「月3人の予約が8人に」のように、お客さんの数で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ワーク（10分）　ワークシート⑤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31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645920"/>
            <a:ext cx="850392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「変えたいこと」を 動く形にする</a:t>
            </a:r>
            <a:endParaRPr lang="en-US" sz="2600" dirty="0"/>
          </a:p>
          <a:p>
            <a:pPr algn="l" indent="0" marL="0">
              <a:spcAft>
                <a:spcPts val="1400"/>
              </a:spcAft>
              <a:buNone/>
            </a:pPr>
            <a:endParaRPr lang="en-US" sz="2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前半で見つけた改善点を、1つ選ぶ</a:t>
            </a:r>
            <a:endParaRPr lang="en-US" sz="2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 使う道具を1つ選ぶ</a:t>
            </a:r>
            <a:endParaRPr lang="en-US" sz="2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　（Gemini／予約投稿／Googleマップ）</a:t>
            </a:r>
            <a:endParaRPr lang="en-US" sz="2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→ 最初の一歩と、いつやるか（日付）</a:t>
            </a:r>
            <a:endParaRPr lang="en-US" sz="2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2EF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8328" y="502920"/>
            <a:ext cx="9235440" cy="5916168"/>
          </a:xfrm>
          <a:prstGeom prst="roundRect">
            <a:avLst>
              <a:gd name="adj" fmla="val 773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777240"/>
            <a:ext cx="8010144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ペアで共有（5分）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097280"/>
            <a:ext cx="8412480" cy="457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隣の人に、書いたことを 1つ話す</a:t>
            </a:r>
            <a:endParaRPr lang="en-US" sz="2800" dirty="0"/>
          </a:p>
          <a:p>
            <a:pPr algn="ctr" indent="0" marL="0">
              <a:spcAft>
                <a:spcPts val="1400"/>
              </a:spcAft>
              <a:buNone/>
            </a:pPr>
            <a:endParaRPr lang="en-US" sz="28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「いつ、何をするか」だけで OK</a:t>
            </a:r>
            <a:endParaRPr lang="en-US" sz="2800" dirty="0"/>
          </a:p>
          <a:p>
            <a:pPr algn="ctr" indent="0" marL="0">
              <a:spcAft>
                <a:spcPts val="1400"/>
              </a:spcAft>
              <a:buNone/>
            </a:pPr>
            <a:endParaRPr lang="en-US" sz="28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聞いた人は</a:t>
            </a:r>
            <a:endParaRPr lang="en-US" sz="2800" dirty="0"/>
          </a:p>
          <a:p>
            <a:pPr algn="ctr" indent="0" marL="0">
              <a:spcAft>
                <a:spcPts val="1400"/>
              </a:spcAft>
              <a:buNone/>
            </a:pPr>
            <a:r>
              <a:rPr lang="en-US" sz="2800" b="1" dirty="0">
                <a:solidFill>
                  <a:srgbClr val="D15881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「それ、いつやるの？」と 一度だけ聞く</a:t>
            </a:r>
            <a:endParaRPr lang="en-US" sz="2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D158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86968" y="914400"/>
            <a:ext cx="73152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後半のまとめ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886968" y="1371600"/>
            <a:ext cx="82296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道具を増やさず、手間を減らす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286000"/>
            <a:ext cx="8778240" cy="3319272"/>
          </a:xfrm>
          <a:prstGeom prst="roundRect">
            <a:avLst>
              <a:gd name="adj" fmla="val 4132"/>
            </a:avLst>
          </a:prstGeom>
          <a:ln w="349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514600"/>
            <a:ext cx="8229600" cy="28620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☐ うちの店シートを 1枚書く（今日）</a:t>
            </a:r>
            <a:endParaRPr lang="en-US" sz="2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☐ シートを貼って、AI に下書きを3案</a:t>
            </a:r>
            <a:endParaRPr lang="en-US" sz="2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☐ 値段・日付・言い回しを直して、予約投稿</a:t>
            </a:r>
            <a:endParaRPr lang="en-US" sz="2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☐ 月に1回・1時間、まとめて作る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2286000" y="5989320"/>
            <a:ext cx="530352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TOWN DESIGN LABO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33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158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" y="2743200"/>
            <a:ext cx="8046720" cy="1508760"/>
          </a:xfrm>
          <a:prstGeom prst="roundRect">
            <a:avLst>
              <a:gd name="adj" fmla="val 9091"/>
            </a:avLst>
          </a:prstGeom>
          <a:ln w="349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1188720" y="2880360"/>
            <a:ext cx="7589520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後半お疲れさまでした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ご清聴ありがとうございました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2286000" y="5120640"/>
            <a:ext cx="530352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TOWN DESIGN LABO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34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92024" y="365760"/>
            <a:ext cx="95097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うちの店シート　　　事業者名（　　　　　　　　　　）</a:t>
            </a:r>
            <a:endParaRPr lang="en-US" sz="16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2024" y="914400"/>
          <a:ext cx="9528048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516368"/>
              </a:tblGrid>
              <a:tr h="9875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① 店の名前と場所</a:t>
                      </a:r>
                      <a:endParaRPr lang="en-US" sz="14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88888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例）◯◯食堂／浜田駅から歩いて5分</a:t>
                      </a:r>
                      <a:endParaRPr lang="en-US" sz="10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75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② 売っているもの</a:t>
                      </a:r>
                      <a:endParaRPr lang="en-US" sz="14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（いちばん出るもの）</a:t>
                      </a:r>
                      <a:endParaRPr lang="en-US" sz="14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88888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例）お好み焼き。いちばん出るのは「そば肉玉」</a:t>
                      </a:r>
                      <a:endParaRPr lang="en-US" sz="10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75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③ よく来るお客さん</a:t>
                      </a:r>
                      <a:endParaRPr lang="en-US" sz="14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88888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例）近所の60代、仕事帰りの人、土日は子連れ</a:t>
                      </a:r>
                      <a:endParaRPr lang="en-US" sz="10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75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④ よく言われること</a:t>
                      </a:r>
                      <a:endParaRPr lang="en-US" sz="14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（ほめ言葉）</a:t>
                      </a:r>
                      <a:endParaRPr lang="en-US" sz="14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88888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例）出汁がやさしい／量が多い／店主と話すのが楽しみ</a:t>
                      </a:r>
                      <a:endParaRPr lang="en-US" sz="10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75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⑤ 文章の雰囲気</a:t>
                      </a:r>
                      <a:endParaRPr lang="en-US" sz="14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88888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きちんと　／　ふつう　／　親しみやすく　（1つに◯）</a:t>
                      </a:r>
                      <a:endParaRPr lang="en-US" sz="10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35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92024" y="365760"/>
            <a:ext cx="950976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変えたいことを動く形にする ワークシート　　　事業者名（　　　　　　　　　　）</a:t>
            </a:r>
            <a:endParaRPr lang="en-US" sz="16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92024" y="914400"/>
          <a:ext cx="9528048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516368"/>
              </a:tblGrid>
              <a:tr h="9875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① 前半で見つけた</a:t>
                      </a:r>
                      <a:endParaRPr lang="en-US" sz="14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改善点</a:t>
                      </a:r>
                      <a:endParaRPr lang="en-US" sz="14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88888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例）保存が少ない → 役立つ内容を増やす</a:t>
                      </a:r>
                      <a:endParaRPr lang="en-US" sz="10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75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② 使う道具</a:t>
                      </a:r>
                      <a:endParaRPr lang="en-US" sz="14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88888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Gemini　／　予約投稿　／　Googleマップ　（1つに◯）</a:t>
                      </a:r>
                      <a:endParaRPr lang="en-US" sz="10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75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③ 最初の一歩</a:t>
                      </a:r>
                      <a:endParaRPr lang="en-US" sz="14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88888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例）うちの店シートを貼って、今週の投稿文を3案出す</a:t>
                      </a:r>
                      <a:endParaRPr lang="en-US" sz="10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75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④ 誰と／どこで</a:t>
                      </a:r>
                      <a:endParaRPr lang="en-US" sz="14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88888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例）自分ひとりで、閉店後の店で</a:t>
                      </a:r>
                      <a:endParaRPr lang="en-US" sz="10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75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00000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⑤ いつやる（日付）</a:t>
                      </a:r>
                      <a:endParaRPr lang="en-US" sz="14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888888"/>
                          </a:solidFill>
                          <a:latin typeface="游ゴシック" pitchFamily="34" charset="0"/>
                          <a:ea typeface="游ゴシック" pitchFamily="34" charset="-122"/>
                          <a:cs typeface="游ゴシック" pitchFamily="34" charset="-120"/>
                        </a:rPr>
                        <a:t>例）9月20日（土）の閉店後　　→　できたか見る日：9月27日（土）</a:t>
                      </a:r>
                      <a:endParaRPr lang="en-US" sz="1000" dirty="0">
                        <a:latin typeface="游ゴシック" charset="0"/>
                        <a:ea typeface="游ゴシック" charset="0"/>
                        <a:cs typeface="游ゴシック" charset="0"/>
                      </a:endParaRPr>
                    </a:p>
                  </a:txBody>
                  <a:tcPr marL="54864" marR="54864" marT="54864" marB="54864" anchor="t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988552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游ゴシック" pitchFamily="34" charset="0"/>
                <a:ea typeface="游ゴシック" pitchFamily="34" charset="-122"/>
                <a:cs typeface="游ゴシック" pitchFamily="34" charset="-120"/>
              </a:rPr>
              <a:t>36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3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2026-09-03T05:54:41Z</dcterms:created>
  <dcterms:modified xsi:type="dcterms:W3CDTF">2026-09-03T05:54:41Z</dcterms:modified>
</cp:coreProperties>
</file>